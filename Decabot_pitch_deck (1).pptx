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57" r:id="rId4"/>
    <p:sldId id="258" r:id="rId5"/>
    <p:sldId id="260" r:id="rId6"/>
    <p:sldId id="263" r:id="rId7"/>
    <p:sldId id="261" r:id="rId8"/>
    <p:sldId id="262" r:id="rId9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55" d="100"/>
          <a:sy n="55" d="100"/>
        </p:scale>
        <p:origin x="65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97283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12562" b="12562"/>
          <a:stretch/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92860" y="2334155"/>
            <a:ext cx="6705600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n-US" sz="7000" b="1" kern="0" spc="-76" dirty="0">
                <a:solidFill>
                  <a:srgbClr val="201E1D"/>
                </a:solidFill>
                <a:latin typeface="Bowlby One SC" panose="02000505060000020004" pitchFamily="2" charset="0"/>
                <a:ea typeface="Black Han Sans" pitchFamily="2" charset="-127"/>
                <a:cs typeface="Arial" pitchFamily="34" charset="-120"/>
              </a:rPr>
              <a:t>Decabot</a:t>
            </a:r>
            <a:endParaRPr lang="en-US" sz="7000" dirty="0">
              <a:latin typeface="Bowlby One SC" panose="02000505060000020004" pitchFamily="2" charset="0"/>
              <a:ea typeface="Black Han Sans" pitchFamily="2" charset="-127"/>
            </a:endParaRPr>
          </a:p>
        </p:txBody>
      </p:sp>
      <p:sp>
        <p:nvSpPr>
          <p:cNvPr id="6" name="Text 3"/>
          <p:cNvSpPr/>
          <p:nvPr/>
        </p:nvSpPr>
        <p:spPr>
          <a:xfrm>
            <a:off x="10515600" y="3638670"/>
            <a:ext cx="6705600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lnSpc>
                <a:spcPct val="156977"/>
              </a:lnSpc>
              <a:buNone/>
            </a:pPr>
            <a:r>
              <a:rPr lang="en-US" sz="25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concierge de expediciones de Decathlon.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10515600" y="4236052"/>
            <a:ext cx="704088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656"/>
              </a:lnSpc>
              <a:buNone/>
            </a:pPr>
            <a:r>
              <a:rPr lang="en-US" sz="3150" i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sueñas. Decabot empaca.</a:t>
            </a:r>
            <a:endParaRPr lang="en-US" sz="3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8814" y="9771936"/>
            <a:ext cx="3547586" cy="153114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D948A326-FEAF-9587-051F-E5728EF01265}"/>
              </a:ext>
            </a:extLst>
          </p:cNvPr>
          <p:cNvSpPr/>
          <p:nvPr/>
        </p:nvSpPr>
        <p:spPr>
          <a:xfrm>
            <a:off x="12358255" y="3041288"/>
            <a:ext cx="6705600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lnSpc>
                <a:spcPct val="156977"/>
              </a:lnSpc>
              <a:buNone/>
            </a:pPr>
            <a:r>
              <a:rPr lang="es-CO" sz="2500" b="1" dirty="0">
                <a:latin typeface="Arial" pitchFamily="34" charset="0"/>
                <a:cs typeface="Arial" pitchFamily="34" charset="-120"/>
              </a:rPr>
              <a:t>B</a:t>
            </a:r>
            <a:r>
              <a:rPr lang="en-US" sz="2500" b="1" dirty="0">
                <a:latin typeface="Arial" pitchFamily="34" charset="0"/>
                <a:cs typeface="Arial" pitchFamily="34" charset="-120"/>
              </a:rPr>
              <a:t>y </a:t>
            </a:r>
            <a:r>
              <a:rPr lang="en-US" sz="2500" b="1" dirty="0" err="1">
                <a:latin typeface="Arial" pitchFamily="34" charset="0"/>
                <a:cs typeface="Arial" pitchFamily="34" charset="-120"/>
              </a:rPr>
              <a:t>Prompteros</a:t>
            </a:r>
            <a:endParaRPr lang="en-US" sz="25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536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n-US" sz="40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comercio agéntico </a:t>
            </a:r>
            <a:r>
              <a:rPr lang="en-US" sz="4000" b="1" kern="0" spc="-76" dirty="0" err="1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</a:t>
            </a:r>
            <a:r>
              <a:rPr lang="en-US" sz="40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kern="0" spc="-76" dirty="0" err="1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llegó</a:t>
            </a:r>
            <a:r>
              <a:rPr lang="en-US" sz="40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¿Vas a </a:t>
            </a:r>
            <a:r>
              <a:rPr lang="en-US" sz="4000" b="1" kern="0" spc="-76" dirty="0" err="1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seguir</a:t>
            </a:r>
            <a:r>
              <a:rPr lang="en-US" sz="40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kern="0" spc="-76" dirty="0" err="1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perdiendo</a:t>
            </a:r>
            <a:r>
              <a:rPr lang="en-US" sz="40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4000" b="1" kern="0" spc="-76" dirty="0" err="1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</a:t>
            </a:r>
            <a:r>
              <a:rPr lang="en-US" sz="40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348978" y="3811376"/>
            <a:ext cx="5364480" cy="446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4800" b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US$3–5T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1371600" y="4226924"/>
            <a:ext cx="3736669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tamaño proyectado del comercio agéntico global para 2030 · McKinsey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587490" y="2972254"/>
            <a:ext cx="5364480" cy="446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9000" b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4.4x</a:t>
            </a:r>
            <a:endParaRPr lang="en-US" sz="9000" dirty="0"/>
          </a:p>
        </p:txBody>
      </p:sp>
      <p:sp>
        <p:nvSpPr>
          <p:cNvPr id="6" name="Text 4"/>
          <p:cNvSpPr/>
          <p:nvPr/>
        </p:nvSpPr>
        <p:spPr>
          <a:xfrm>
            <a:off x="6587490" y="4015696"/>
            <a:ext cx="3900401" cy="1189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más</a:t>
            </a:r>
            <a:r>
              <a:rPr lang="en-US" sz="1800" b="1" dirty="0">
                <a:solidFill>
                  <a:schemeClr val="tx1">
                    <a:alpha val="5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800" b="1" dirty="0">
                <a:solidFill>
                  <a:schemeClr val="tx1">
                    <a:alpha val="5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conversión</a:t>
            </a:r>
            <a:r>
              <a:rPr lang="en-US" sz="1800" b="1" dirty="0">
                <a:solidFill>
                  <a:schemeClr val="tx1">
                    <a:alpha val="5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</a:t>
            </a:r>
            <a:r>
              <a:rPr lang="en-US" sz="3000" b="1" dirty="0">
                <a:solidFill>
                  <a:schemeClr val="tx1">
                    <a:alpha val="5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recomendaciones</a:t>
            </a: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de</a:t>
            </a:r>
            <a:r>
              <a:rPr lang="en-US" sz="2400" b="1" dirty="0">
                <a:solidFill>
                  <a:schemeClr val="tx1">
                    <a:alpha val="5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IA </a:t>
            </a: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búsqueda tradicional · McKinsey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906250" y="2981374"/>
            <a:ext cx="5364480" cy="446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9000" b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+42%</a:t>
            </a:r>
            <a:endParaRPr lang="en-US" sz="9000" dirty="0"/>
          </a:p>
        </p:txBody>
      </p:sp>
      <p:sp>
        <p:nvSpPr>
          <p:cNvPr id="8" name="Text 6"/>
          <p:cNvSpPr/>
          <p:nvPr/>
        </p:nvSpPr>
        <p:spPr>
          <a:xfrm>
            <a:off x="11967112" y="4026352"/>
            <a:ext cx="3736669" cy="92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mejor </a:t>
            </a:r>
            <a:r>
              <a:rPr lang="en-US" sz="3300" b="1" dirty="0">
                <a:solidFill>
                  <a:schemeClr val="tx1">
                    <a:alpha val="5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conversión</a:t>
            </a: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2800" b="1" dirty="0">
                <a:solidFill>
                  <a:schemeClr val="tx1">
                    <a:alpha val="55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 tráfico </a:t>
            </a: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referido por agentes de IA · Adobe Analytics 2026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35331" y="6286776"/>
            <a:ext cx="1709928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35174"/>
              </a:lnSpc>
              <a:buNone/>
            </a:pPr>
            <a:r>
              <a:rPr lang="en-US" sz="22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 base para escalarlo ya existe dentro de </a:t>
            </a:r>
            <a:r>
              <a:rPr lang="en-US" sz="3000" b="1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Decathlon:</a:t>
            </a:r>
            <a:endParaRPr lang="en-US" sz="2250" b="1" dirty="0"/>
          </a:p>
        </p:txBody>
      </p:sp>
      <p:sp>
        <p:nvSpPr>
          <p:cNvPr id="10" name="Text 8"/>
          <p:cNvSpPr/>
          <p:nvPr/>
        </p:nvSpPr>
        <p:spPr>
          <a:xfrm>
            <a:off x="1419052" y="7835667"/>
            <a:ext cx="3897630" cy="446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4800" b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€16.8B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1419052" y="8320252"/>
            <a:ext cx="38976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ventas netas 2025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19552" y="7835667"/>
            <a:ext cx="3897630" cy="446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4800" b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1.23B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5419552" y="8320252"/>
            <a:ext cx="38976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 vendidos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364634" y="7352869"/>
            <a:ext cx="3897630" cy="446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9000" b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9000" dirty="0"/>
          </a:p>
        </p:txBody>
      </p:sp>
      <p:sp>
        <p:nvSpPr>
          <p:cNvPr id="15" name="Text 13"/>
          <p:cNvSpPr/>
          <p:nvPr/>
        </p:nvSpPr>
        <p:spPr>
          <a:xfrm>
            <a:off x="9420052" y="8320252"/>
            <a:ext cx="38976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la venta ya es digital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420552" y="7835667"/>
            <a:ext cx="3897630" cy="4464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78261"/>
              </a:lnSpc>
              <a:buNone/>
            </a:pPr>
            <a:r>
              <a:rPr lang="en-US" sz="4800" b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1,902</a:t>
            </a:r>
            <a:endParaRPr lang="en-US" sz="4800" dirty="0"/>
          </a:p>
        </p:txBody>
      </p:sp>
      <p:sp>
        <p:nvSpPr>
          <p:cNvPr id="17" name="Text 15"/>
          <p:cNvSpPr/>
          <p:nvPr/>
        </p:nvSpPr>
        <p:spPr>
          <a:xfrm>
            <a:off x="13420552" y="8320252"/>
            <a:ext cx="3897630" cy="335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706"/>
              </a:lnSpc>
              <a:buNone/>
            </a:pPr>
            <a:r>
              <a:rPr lang="en-US" sz="1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tiendas en 82 países</a:t>
            </a:r>
            <a:endParaRPr lang="en-US" sz="18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8814" y="9771936"/>
            <a:ext cx="3547586" cy="153114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75EFE958-9BE6-D3D9-7764-1B7F9D8E48F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691" b="18966"/>
          <a:stretch>
            <a:fillRect/>
          </a:stretch>
        </p:blipFill>
        <p:spPr>
          <a:xfrm>
            <a:off x="6176189" y="6091734"/>
            <a:ext cx="5137260" cy="90481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48978" y="1623536"/>
            <a:ext cx="17124164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mercado outdoor que ya está en expansión</a:t>
            </a:r>
            <a:endParaRPr lang="en-US" sz="5100" dirty="0"/>
          </a:p>
        </p:txBody>
      </p:sp>
      <p:sp>
        <p:nvSpPr>
          <p:cNvPr id="4" name="Text 2"/>
          <p:cNvSpPr/>
          <p:nvPr/>
        </p:nvSpPr>
        <p:spPr>
          <a:xfrm>
            <a:off x="1371600" y="3349109"/>
            <a:ext cx="4043136" cy="1470660"/>
          </a:xfrm>
          <a:prstGeom prst="rect">
            <a:avLst/>
          </a:prstGeom>
          <a:noFill/>
          <a:ln/>
          <a:effectLst>
            <a:outerShdw blurRad="101600" dist="45922" dir="2100000" algn="bl" rotWithShape="0">
              <a:srgbClr val="F3F2F2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22"/>
              </a:lnSpc>
              <a:buNone/>
            </a:pPr>
            <a:r>
              <a:rPr lang="en-US" sz="825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US$58B</a:t>
            </a:r>
            <a:endParaRPr lang="en-US" sz="8250" dirty="0"/>
          </a:p>
        </p:txBody>
      </p:sp>
      <p:sp>
        <p:nvSpPr>
          <p:cNvPr id="5" name="Text 3"/>
          <p:cNvSpPr/>
          <p:nvPr/>
        </p:nvSpPr>
        <p:spPr>
          <a:xfrm>
            <a:off x="1371600" y="3600569"/>
            <a:ext cx="4043136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822"/>
              </a:lnSpc>
              <a:buNone/>
            </a:pPr>
            <a:r>
              <a:rPr lang="en-US" sz="8250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US$58B</a:t>
            </a:r>
            <a:endParaRPr lang="en-US" sz="8250" dirty="0"/>
          </a:p>
        </p:txBody>
      </p:sp>
      <p:sp>
        <p:nvSpPr>
          <p:cNvPr id="6" name="Text 4"/>
          <p:cNvSpPr/>
          <p:nvPr/>
        </p:nvSpPr>
        <p:spPr>
          <a:xfrm>
            <a:off x="1423954" y="3614020"/>
            <a:ext cx="4043136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822"/>
              </a:lnSpc>
              <a:buNone/>
            </a:pPr>
            <a:r>
              <a:rPr lang="en-US" sz="8250" dirty="0">
                <a:solidFill>
                  <a:srgbClr val="D6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US$58B</a:t>
            </a:r>
            <a:endParaRPr lang="en-US" sz="8250" dirty="0"/>
          </a:p>
        </p:txBody>
      </p:sp>
      <p:sp>
        <p:nvSpPr>
          <p:cNvPr id="7" name="Text 5"/>
          <p:cNvSpPr/>
          <p:nvPr/>
        </p:nvSpPr>
        <p:spPr>
          <a:xfrm>
            <a:off x="1353755" y="3563728"/>
            <a:ext cx="4043136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822"/>
              </a:lnSpc>
              <a:buNone/>
            </a:pPr>
            <a:r>
              <a:rPr lang="en-US" sz="8250" dirty="0">
                <a:solidFill>
                  <a:srgbClr val="EDB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US$58B</a:t>
            </a:r>
            <a:endParaRPr lang="en-US" sz="8250" dirty="0"/>
          </a:p>
        </p:txBody>
      </p:sp>
      <p:sp>
        <p:nvSpPr>
          <p:cNvPr id="8" name="Text 6"/>
          <p:cNvSpPr/>
          <p:nvPr/>
        </p:nvSpPr>
        <p:spPr>
          <a:xfrm>
            <a:off x="5428179" y="3829169"/>
            <a:ext cx="536496" cy="8648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625"/>
              </a:lnSpc>
              <a:buNone/>
            </a:pPr>
            <a:r>
              <a:rPr lang="en-US" sz="420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6269474" y="3349109"/>
            <a:ext cx="4065008" cy="1470660"/>
          </a:xfrm>
          <a:prstGeom prst="rect">
            <a:avLst/>
          </a:prstGeom>
          <a:noFill/>
          <a:ln/>
          <a:effectLst>
            <a:outerShdw blurRad="101600" dist="45922" dir="2100000" algn="bl" rotWithShape="0">
              <a:srgbClr val="F3F2F2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822"/>
              </a:lnSpc>
              <a:buNone/>
            </a:pPr>
            <a:r>
              <a:rPr lang="en-US" sz="825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US$93B</a:t>
            </a:r>
            <a:endParaRPr lang="en-US" sz="8250" dirty="0"/>
          </a:p>
        </p:txBody>
      </p:sp>
      <p:sp>
        <p:nvSpPr>
          <p:cNvPr id="11" name="Text 9"/>
          <p:cNvSpPr/>
          <p:nvPr/>
        </p:nvSpPr>
        <p:spPr>
          <a:xfrm>
            <a:off x="6269474" y="3600569"/>
            <a:ext cx="406500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822"/>
              </a:lnSpc>
              <a:buNone/>
            </a:pPr>
            <a:r>
              <a:rPr lang="en-US" sz="8250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US$93B</a:t>
            </a:r>
            <a:endParaRPr lang="en-US" sz="8250" dirty="0"/>
          </a:p>
        </p:txBody>
      </p:sp>
      <p:sp>
        <p:nvSpPr>
          <p:cNvPr id="13" name="Text 11"/>
          <p:cNvSpPr/>
          <p:nvPr/>
        </p:nvSpPr>
        <p:spPr>
          <a:xfrm>
            <a:off x="6251629" y="3563728"/>
            <a:ext cx="4065008" cy="981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822"/>
              </a:lnSpc>
              <a:buNone/>
            </a:pPr>
            <a:r>
              <a:rPr lang="en-US" sz="8250" dirty="0">
                <a:solidFill>
                  <a:srgbClr val="EDB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US$93B</a:t>
            </a:r>
            <a:endParaRPr lang="en-US" sz="8250" dirty="0"/>
          </a:p>
        </p:txBody>
      </p:sp>
      <p:sp>
        <p:nvSpPr>
          <p:cNvPr id="14" name="Text 12"/>
          <p:cNvSpPr/>
          <p:nvPr/>
        </p:nvSpPr>
        <p:spPr>
          <a:xfrm>
            <a:off x="1371600" y="5512237"/>
            <a:ext cx="11971985" cy="2103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lnSpc>
                <a:spcPct val="173077"/>
              </a:lnSpc>
              <a:buNone/>
            </a:pPr>
            <a:r>
              <a:rPr lang="en-US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Mercado global de equipo outdoor, 2026 → 2035 · +5.4% anual · Global </a:t>
            </a:r>
            <a:r>
              <a:rPr lang="en-US" sz="14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r>
              <a:rPr lang="en-US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Insights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371600" y="6617494"/>
            <a:ext cx="2862024" cy="589598"/>
          </a:xfrm>
          <a:prstGeom prst="roundRect">
            <a:avLst>
              <a:gd name="adj" fmla="val 2423"/>
            </a:avLst>
          </a:prstGeom>
          <a:solidFill>
            <a:srgbClr val="E9F8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562100" y="6712744"/>
            <a:ext cx="2566885" cy="437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39" dirty="0">
                <a:solidFill>
                  <a:srgbClr val="0049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Trekking &amp; camping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4424124" y="6617494"/>
            <a:ext cx="1450419" cy="589598"/>
          </a:xfrm>
          <a:prstGeom prst="roundRect">
            <a:avLst>
              <a:gd name="adj" fmla="val 2423"/>
            </a:avLst>
          </a:prstGeom>
          <a:solidFill>
            <a:srgbClr val="FFF1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614624" y="6712744"/>
            <a:ext cx="1145619" cy="43719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39" dirty="0">
                <a:solidFill>
                  <a:srgbClr val="790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Ciclismo</a:t>
            </a:r>
            <a:endParaRPr lang="en-US" sz="1950" dirty="0"/>
          </a:p>
        </p:txBody>
      </p:sp>
      <p:sp>
        <p:nvSpPr>
          <p:cNvPr id="19" name="Shape 17"/>
          <p:cNvSpPr/>
          <p:nvPr/>
        </p:nvSpPr>
        <p:spPr>
          <a:xfrm>
            <a:off x="6065044" y="6617494"/>
            <a:ext cx="1452086" cy="589598"/>
          </a:xfrm>
          <a:prstGeom prst="roundRect">
            <a:avLst>
              <a:gd name="adj" fmla="val 2423"/>
            </a:avLst>
          </a:prstGeom>
          <a:ln w="7620">
            <a:solidFill>
              <a:srgbClr val="0088B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263164" y="6720364"/>
            <a:ext cx="1132046" cy="4219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36149"/>
              </a:lnSpc>
              <a:buNone/>
            </a:pPr>
            <a:r>
              <a:rPr lang="en-US" sz="1950" kern="0" spc="39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</a:t>
            </a:r>
            <a:endParaRPr lang="en-US" sz="19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8814" y="9771936"/>
            <a:ext cx="3547586" cy="153114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88A8C8C2-A668-F16D-06E7-A025E70298A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0691" b="18966"/>
          <a:stretch>
            <a:fillRect/>
          </a:stretch>
        </p:blipFill>
        <p:spPr>
          <a:xfrm>
            <a:off x="1323478" y="2090651"/>
            <a:ext cx="5137260" cy="904811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2F0411D1-2739-E452-6CE0-D99C1E6A7CD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51731"/>
          <a:stretch>
            <a:fillRect/>
          </a:stretch>
        </p:blipFill>
        <p:spPr>
          <a:xfrm>
            <a:off x="11667462" y="0"/>
            <a:ext cx="6620538" cy="10287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20361" r="20361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8978" y="1623536"/>
            <a:ext cx="6278880" cy="2015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se pierde una venta de expedición hoy</a:t>
            </a:r>
            <a:endParaRPr lang="en-US" sz="5100" dirty="0"/>
          </a:p>
        </p:txBody>
      </p:sp>
      <p:sp>
        <p:nvSpPr>
          <p:cNvPr id="6" name="Shape 3"/>
          <p:cNvSpPr/>
          <p:nvPr/>
        </p:nvSpPr>
        <p:spPr>
          <a:xfrm>
            <a:off x="1284803" y="4446746"/>
            <a:ext cx="2133243" cy="825103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371600" y="4358283"/>
            <a:ext cx="2155615" cy="1028700"/>
          </a:xfrm>
          <a:prstGeom prst="rect">
            <a:avLst/>
          </a:prstGeom>
          <a:noFill/>
          <a:ln/>
          <a:effectLst>
            <a:outerShdw blurRad="101600" dist="31728" dir="2100000" algn="bl" rotWithShape="0">
              <a:srgbClr val="F3F2F2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7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40–90</a:t>
            </a:r>
            <a:endParaRPr lang="en-US" sz="5700" dirty="0"/>
          </a:p>
        </p:txBody>
      </p:sp>
      <p:sp>
        <p:nvSpPr>
          <p:cNvPr id="8" name="Text 5"/>
          <p:cNvSpPr/>
          <p:nvPr/>
        </p:nvSpPr>
        <p:spPr>
          <a:xfrm>
            <a:off x="1371600" y="4533543"/>
            <a:ext cx="2155615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700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40–90</a:t>
            </a:r>
            <a:endParaRPr lang="en-US" sz="5700" dirty="0"/>
          </a:p>
        </p:txBody>
      </p:sp>
      <p:sp>
        <p:nvSpPr>
          <p:cNvPr id="9" name="Text 6"/>
          <p:cNvSpPr/>
          <p:nvPr/>
        </p:nvSpPr>
        <p:spPr>
          <a:xfrm>
            <a:off x="1407772" y="4542836"/>
            <a:ext cx="2155615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700" dirty="0">
                <a:solidFill>
                  <a:srgbClr val="D6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40–90</a:t>
            </a:r>
            <a:endParaRPr lang="en-US" sz="5700" dirty="0"/>
          </a:p>
        </p:txBody>
      </p:sp>
      <p:sp>
        <p:nvSpPr>
          <p:cNvPr id="10" name="Text 7"/>
          <p:cNvSpPr/>
          <p:nvPr/>
        </p:nvSpPr>
        <p:spPr>
          <a:xfrm>
            <a:off x="1359271" y="4508088"/>
            <a:ext cx="2155615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700" dirty="0">
                <a:solidFill>
                  <a:srgbClr val="EDB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40–90</a:t>
            </a:r>
            <a:endParaRPr lang="en-US" sz="5700" dirty="0"/>
          </a:p>
        </p:txBody>
      </p:sp>
      <p:sp>
        <p:nvSpPr>
          <p:cNvPr id="11" name="Text 8"/>
          <p:cNvSpPr/>
          <p:nvPr/>
        </p:nvSpPr>
        <p:spPr>
          <a:xfrm>
            <a:off x="1371600" y="5442228"/>
            <a:ext cx="3238406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minutos armando el kit de una expedición</a:t>
            </a:r>
            <a:endParaRPr lang="en-US" sz="1950" dirty="0"/>
          </a:p>
        </p:txBody>
      </p:sp>
      <p:sp>
        <p:nvSpPr>
          <p:cNvPr id="12" name="Shape 9"/>
          <p:cNvSpPr/>
          <p:nvPr/>
        </p:nvSpPr>
        <p:spPr>
          <a:xfrm>
            <a:off x="1284803" y="6417945"/>
            <a:ext cx="2154912" cy="825103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371600" y="6329482"/>
            <a:ext cx="2179451" cy="1028700"/>
          </a:xfrm>
          <a:prstGeom prst="rect">
            <a:avLst/>
          </a:prstGeom>
          <a:noFill/>
          <a:ln/>
          <a:effectLst>
            <a:outerShdw blurRad="101600" dist="31728" dir="2100000" algn="bl" rotWithShape="0">
              <a:srgbClr val="F3F2F2">
                <a:alpha val="100000"/>
              </a:srgbClr>
            </a:outerShdw>
          </a:effectLst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700" dirty="0">
                <a:solidFill>
                  <a:srgbClr val="F3F2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70.2%</a:t>
            </a:r>
            <a:endParaRPr lang="en-US" sz="5700" dirty="0"/>
          </a:p>
        </p:txBody>
      </p:sp>
      <p:sp>
        <p:nvSpPr>
          <p:cNvPr id="14" name="Text 11"/>
          <p:cNvSpPr/>
          <p:nvPr/>
        </p:nvSpPr>
        <p:spPr>
          <a:xfrm>
            <a:off x="1371600" y="6504742"/>
            <a:ext cx="2179451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700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70.2%</a:t>
            </a:r>
            <a:endParaRPr lang="en-US" sz="5700" dirty="0"/>
          </a:p>
        </p:txBody>
      </p:sp>
      <p:sp>
        <p:nvSpPr>
          <p:cNvPr id="15" name="Text 12"/>
          <p:cNvSpPr/>
          <p:nvPr/>
        </p:nvSpPr>
        <p:spPr>
          <a:xfrm>
            <a:off x="1407772" y="6514035"/>
            <a:ext cx="2179451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700" dirty="0">
                <a:solidFill>
                  <a:srgbClr val="D600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70.2%</a:t>
            </a:r>
            <a:endParaRPr lang="en-US" sz="5700" dirty="0"/>
          </a:p>
        </p:txBody>
      </p:sp>
      <p:sp>
        <p:nvSpPr>
          <p:cNvPr id="16" name="Text 13"/>
          <p:cNvSpPr/>
          <p:nvPr/>
        </p:nvSpPr>
        <p:spPr>
          <a:xfrm>
            <a:off x="1359271" y="6479288"/>
            <a:ext cx="2179451" cy="689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78440"/>
              </a:lnSpc>
              <a:buNone/>
            </a:pPr>
            <a:r>
              <a:rPr lang="en-US" sz="5700" dirty="0">
                <a:solidFill>
                  <a:srgbClr val="EDBB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70.2%</a:t>
            </a:r>
            <a:endParaRPr lang="en-US" sz="5700" dirty="0"/>
          </a:p>
        </p:txBody>
      </p:sp>
      <p:sp>
        <p:nvSpPr>
          <p:cNvPr id="17" name="Text 14"/>
          <p:cNvSpPr/>
          <p:nvPr/>
        </p:nvSpPr>
        <p:spPr>
          <a:xfrm>
            <a:off x="1371600" y="7413427"/>
            <a:ext cx="3238406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carritos abandonados en e-commerce global</a:t>
            </a:r>
            <a:endParaRPr lang="en-US" sz="19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9771936"/>
            <a:ext cx="3547586" cy="15311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20361" r="20361"/>
          <a:stretch/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92860" y="1623536"/>
            <a:ext cx="6278880" cy="1243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85000" lnSpcReduction="20000"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</a:t>
            </a:r>
            <a:r>
              <a:rPr lang="en-US" sz="5100" b="1" kern="0" spc="-76" dirty="0" err="1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</a:t>
            </a: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Un kit real. Un carrito.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10492860" y="3319267"/>
            <a:ext cx="4819650" cy="306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77459"/>
              </a:lnSpc>
              <a:buNone/>
            </a:pPr>
            <a:r>
              <a:rPr lang="en-US" sz="3150" b="1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3150" dirty="0"/>
          </a:p>
        </p:txBody>
      </p:sp>
      <p:sp>
        <p:nvSpPr>
          <p:cNvPr id="7" name="Text 4"/>
          <p:cNvSpPr/>
          <p:nvPr/>
        </p:nvSpPr>
        <p:spPr>
          <a:xfrm>
            <a:off x="10492860" y="3682527"/>
            <a:ext cx="4512945" cy="6622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99519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 condiciones reales</a:t>
            </a:r>
            <a:endParaRPr lang="en-US" sz="2700" dirty="0"/>
          </a:p>
        </p:txBody>
      </p:sp>
      <p:sp>
        <p:nvSpPr>
          <p:cNvPr id="8" name="Text 5"/>
          <p:cNvSpPr/>
          <p:nvPr/>
        </p:nvSpPr>
        <p:spPr>
          <a:xfrm>
            <a:off x="10492860" y="4401902"/>
            <a:ext cx="451294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Clima, altitud y riesgos de tu expedición.</a:t>
            </a:r>
            <a:endParaRPr lang="en-US" sz="1950" dirty="0"/>
          </a:p>
        </p:txBody>
      </p:sp>
      <p:sp>
        <p:nvSpPr>
          <p:cNvPr id="9" name="Text 6"/>
          <p:cNvSpPr/>
          <p:nvPr/>
        </p:nvSpPr>
        <p:spPr>
          <a:xfrm>
            <a:off x="10492860" y="5464416"/>
            <a:ext cx="4819650" cy="306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77459"/>
              </a:lnSpc>
              <a:buNone/>
            </a:pPr>
            <a:r>
              <a:rPr lang="en-US" sz="3150" b="1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3150" dirty="0"/>
          </a:p>
        </p:txBody>
      </p:sp>
      <p:sp>
        <p:nvSpPr>
          <p:cNvPr id="10" name="Text 7"/>
          <p:cNvSpPr/>
          <p:nvPr/>
        </p:nvSpPr>
        <p:spPr>
          <a:xfrm>
            <a:off x="10492860" y="5827676"/>
            <a:ext cx="4819650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9519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Arma tu kit completo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0492860" y="6152716"/>
            <a:ext cx="451294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Productos, tallas y precios del catálogo real.</a:t>
            </a:r>
            <a:endParaRPr lang="en-US" sz="1950" dirty="0"/>
          </a:p>
        </p:txBody>
      </p:sp>
      <p:sp>
        <p:nvSpPr>
          <p:cNvPr id="12" name="Text 9"/>
          <p:cNvSpPr/>
          <p:nvPr/>
        </p:nvSpPr>
        <p:spPr>
          <a:xfrm>
            <a:off x="10492860" y="7215230"/>
            <a:ext cx="4819650" cy="3061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77459"/>
              </a:lnSpc>
              <a:buNone/>
            </a:pPr>
            <a:r>
              <a:rPr lang="en-US" sz="3150" b="1" dirty="0">
                <a:solidFill>
                  <a:srgbClr val="0088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3150" dirty="0"/>
          </a:p>
        </p:txBody>
      </p:sp>
      <p:sp>
        <p:nvSpPr>
          <p:cNvPr id="13" name="Text 10"/>
          <p:cNvSpPr/>
          <p:nvPr/>
        </p:nvSpPr>
        <p:spPr>
          <a:xfrm>
            <a:off x="10492860" y="7578490"/>
            <a:ext cx="4819650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9519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Entrega tu carrito real</a:t>
            </a:r>
            <a:endParaRPr lang="en-US" sz="2700" dirty="0"/>
          </a:p>
        </p:txBody>
      </p:sp>
      <p:sp>
        <p:nvSpPr>
          <p:cNvPr id="14" name="Text 11"/>
          <p:cNvSpPr/>
          <p:nvPr/>
        </p:nvSpPr>
        <p:spPr>
          <a:xfrm>
            <a:off x="10515600" y="7901864"/>
            <a:ext cx="4512945" cy="681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Link de decathlon.com, listo para pagar.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0515600" y="8807529"/>
            <a:ext cx="5638800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82432"/>
              </a:lnSpc>
              <a:buNone/>
            </a:pPr>
            <a:r>
              <a:rPr lang="en-US" sz="2400" i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en menos de 2 minutos.</a:t>
            </a:r>
            <a:endParaRPr lang="en-US" sz="2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8814" y="9771936"/>
            <a:ext cx="3547586" cy="15311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4A878DBF-1CA4-EF50-C2FA-F104D011B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424" y="3151028"/>
            <a:ext cx="4938786" cy="3975723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C6AAE25-BD23-41B5-AAE4-1DA5898C2A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81444" y="2360830"/>
            <a:ext cx="0" cy="5565341"/>
          </a:xfrm>
          <a:prstGeom prst="line">
            <a:avLst/>
          </a:prstGeom>
          <a:ln w="19050">
            <a:solidFill>
              <a:srgbClr val="5ECF8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FCEB4528-1FF6-D478-CDB2-163246A7A3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0014" y="3005209"/>
            <a:ext cx="9276870" cy="4267361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803577E5-DC38-61B5-1585-DAD394306582}"/>
              </a:ext>
            </a:extLst>
          </p:cNvPr>
          <p:cNvSpPr/>
          <p:nvPr/>
        </p:nvSpPr>
        <p:spPr>
          <a:xfrm>
            <a:off x="1673423" y="1612236"/>
            <a:ext cx="11432969" cy="1243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s-CO" sz="5100" b="1" kern="0" spc="-76" dirty="0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C</a:t>
            </a:r>
            <a:r>
              <a:rPr lang="en-US" sz="5100" b="1" kern="0" spc="-76" dirty="0" err="1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ómo</a:t>
            </a: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5100" b="1" kern="0" spc="-76" dirty="0" err="1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implementamos</a:t>
            </a: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5100" b="1" kern="0" spc="-76" dirty="0" err="1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en</a:t>
            </a: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 </a:t>
            </a:r>
            <a:r>
              <a:rPr lang="en-US" sz="5100" b="1" kern="0" spc="-76" dirty="0" err="1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tu</a:t>
            </a: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cs typeface="Arial" pitchFamily="34" charset="-120"/>
              </a:rPr>
              <a:t> landing</a:t>
            </a:r>
            <a:endParaRPr lang="en-US" sz="5100" dirty="0"/>
          </a:p>
        </p:txBody>
      </p:sp>
    </p:spTree>
    <p:extLst>
      <p:ext uri="{BB962C8B-B14F-4D97-AF65-F5344CB8AC3E}">
        <p14:creationId xmlns:p14="http://schemas.microsoft.com/office/powerpoint/2010/main" val="2327085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144000" y="0"/>
            <a:ext cx="9144000" cy="10287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l="20361" r="20361"/>
          <a:stretch/>
        </p:blipFill>
        <p:spPr>
          <a:xfrm>
            <a:off x="9144000" y="0"/>
            <a:ext cx="9144000" cy="1028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48978" y="1623536"/>
            <a:ext cx="6278880" cy="201513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Comprador real, no un chatbot sobre un scraper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1371600" y="4533543"/>
            <a:ext cx="6705600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6923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Protocolo oficial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371600" y="4820483"/>
            <a:ext cx="6278880" cy="526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Transacciona sobre agents.md y UCP, la puerta que Decathlon abrió a agentes.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371600" y="5727025"/>
            <a:ext cx="6705600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6923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Cero alucinaciones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371600" y="6013966"/>
            <a:ext cx="6278880" cy="526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Tallas y stock verificados en vivo; si no hay producto, Decabot lo dice.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1371600" y="6920508"/>
            <a:ext cx="6705600" cy="2678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96923"/>
              </a:lnSpc>
              <a:buNone/>
            </a:pPr>
            <a:r>
              <a:rPr lang="en-US" sz="2700" b="1" kern="0" spc="-40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Carrito real, no una demo</a:t>
            </a:r>
            <a:endParaRPr lang="en-US" sz="2700" dirty="0"/>
          </a:p>
        </p:txBody>
      </p:sp>
      <p:sp>
        <p:nvSpPr>
          <p:cNvPr id="11" name="Text 8"/>
          <p:cNvSpPr/>
          <p:nvPr/>
        </p:nvSpPr>
        <p:spPr>
          <a:xfrm>
            <a:off x="1371600" y="7207448"/>
            <a:ext cx="6278880" cy="52601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77500" lnSpcReduction="20000"/>
          </a:bodyPr>
          <a:lstStyle/>
          <a:p>
            <a:pPr marL="0" indent="0" algn="l">
              <a:lnSpc>
                <a:spcPct val="114189"/>
              </a:lnSpc>
              <a:buNone/>
            </a:pPr>
            <a:r>
              <a:rPr lang="en-US" sz="195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 link de decathlon.com que cualquiera abre y comprueba en su celular.</a:t>
            </a:r>
            <a:endParaRPr lang="en-US" sz="19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9771936"/>
            <a:ext cx="3547586" cy="1531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2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F3F2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10287000"/>
          </a:xfrm>
          <a:prstGeom prst="rect">
            <a:avLst/>
          </a:prstGeom>
          <a:solidFill>
            <a:srgbClr val="7F7F7F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rcRect t="12562" b="12562"/>
          <a:stretch/>
        </p:blipFill>
        <p:spPr>
          <a:xfrm>
            <a:off x="0" y="0"/>
            <a:ext cx="9144000" cy="1028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492860" y="1623536"/>
            <a:ext cx="6705600" cy="472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62500" lnSpcReduction="20000"/>
          </a:bodyPr>
          <a:lstStyle/>
          <a:p>
            <a:pPr marL="0" indent="0" algn="l">
              <a:lnSpc>
                <a:spcPct val="103316"/>
              </a:lnSpc>
              <a:buNone/>
            </a:pPr>
            <a:r>
              <a:rPr lang="en-US" sz="5100" b="1" kern="0" spc="-76" dirty="0">
                <a:solidFill>
                  <a:srgbClr val="201E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Tú solo sueñas.</a:t>
            </a:r>
            <a:endParaRPr lang="en-US" sz="5100" dirty="0"/>
          </a:p>
        </p:txBody>
      </p:sp>
      <p:sp>
        <p:nvSpPr>
          <p:cNvPr id="6" name="Text 3"/>
          <p:cNvSpPr/>
          <p:nvPr/>
        </p:nvSpPr>
        <p:spPr>
          <a:xfrm>
            <a:off x="10630583" y="2207355"/>
            <a:ext cx="6705600" cy="2295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Autofit/>
          </a:bodyPr>
          <a:lstStyle/>
          <a:p>
            <a:pPr marL="0" indent="0" algn="just">
              <a:lnSpc>
                <a:spcPct val="156977"/>
              </a:lnSpc>
              <a:buNone/>
            </a:pPr>
            <a:r>
              <a:rPr lang="en-US" sz="28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Decabot empaca</a:t>
            </a:r>
            <a:r>
              <a:rPr lang="en-US" sz="100" dirty="0">
                <a:solidFill>
                  <a:srgbClr val="211D1D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00" dirty="0"/>
          </a:p>
        </p:txBody>
      </p:sp>
      <p:sp>
        <p:nvSpPr>
          <p:cNvPr id="7" name="Text 4"/>
          <p:cNvSpPr/>
          <p:nvPr/>
        </p:nvSpPr>
        <p:spPr>
          <a:xfrm>
            <a:off x="10492860" y="4095452"/>
            <a:ext cx="659282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lnSpc>
                <a:spcPct val="110656"/>
              </a:lnSpc>
              <a:buNone/>
            </a:pPr>
            <a:r>
              <a:rPr lang="en-US" sz="3150" i="1" dirty="0">
                <a:solidFill>
                  <a:srgbClr val="0067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Abran el carrito en su propio celular. Es real.</a:t>
            </a:r>
            <a:endParaRPr lang="en-US" sz="31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68814" y="9771936"/>
            <a:ext cx="3547586" cy="15311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95CC21A-3A60-1991-B916-5FD37AB149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23122" y="5484293"/>
            <a:ext cx="2891384" cy="2867035"/>
          </a:xfrm>
          <a:prstGeom prst="rect">
            <a:avLst/>
          </a:prstGeom>
        </p:spPr>
      </p:pic>
      <p:sp>
        <p:nvSpPr>
          <p:cNvPr id="12" name="Text 4">
            <a:extLst>
              <a:ext uri="{FF2B5EF4-FFF2-40B4-BE49-F238E27FC236}">
                <a16:creationId xmlns:a16="http://schemas.microsoft.com/office/drawing/2014/main" id="{F624998F-9EB8-2AD2-E751-03F4A52A5F19}"/>
              </a:ext>
            </a:extLst>
          </p:cNvPr>
          <p:cNvSpPr/>
          <p:nvPr/>
        </p:nvSpPr>
        <p:spPr>
          <a:xfrm>
            <a:off x="11188832" y="8528232"/>
            <a:ext cx="6592824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10656"/>
              </a:lnSpc>
              <a:buNone/>
            </a:pPr>
            <a:r>
              <a:rPr lang="es-CO" sz="3150" i="1" dirty="0">
                <a:solidFill>
                  <a:srgbClr val="006786"/>
                </a:solidFill>
                <a:latin typeface="Arial" pitchFamily="34" charset="0"/>
                <a:cs typeface="Arial" pitchFamily="34" charset="-120"/>
              </a:rPr>
              <a:t>D</a:t>
            </a:r>
            <a:r>
              <a:rPr lang="en-US" sz="3150" i="1" dirty="0" err="1">
                <a:solidFill>
                  <a:srgbClr val="006786"/>
                </a:solidFill>
                <a:latin typeface="Arial" pitchFamily="34" charset="0"/>
                <a:cs typeface="Arial" pitchFamily="34" charset="-120"/>
              </a:rPr>
              <a:t>ecathlon</a:t>
            </a:r>
            <a:r>
              <a:rPr lang="en-US" sz="3150" i="1" dirty="0">
                <a:solidFill>
                  <a:srgbClr val="006786"/>
                </a:solidFill>
                <a:latin typeface="Arial" pitchFamily="34" charset="0"/>
                <a:cs typeface="Arial" pitchFamily="34" charset="-120"/>
              </a:rPr>
              <a:t>! </a:t>
            </a:r>
            <a:r>
              <a:rPr lang="en-US" sz="3150" i="1" dirty="0" err="1">
                <a:solidFill>
                  <a:srgbClr val="006786"/>
                </a:solidFill>
                <a:latin typeface="Arial" pitchFamily="34" charset="0"/>
                <a:cs typeface="Arial" pitchFamily="34" charset="-120"/>
              </a:rPr>
              <a:t>Escanéame</a:t>
            </a:r>
            <a:r>
              <a:rPr lang="en-US" sz="3150" i="1" dirty="0">
                <a:solidFill>
                  <a:srgbClr val="006786"/>
                </a:solidFill>
                <a:latin typeface="Arial" pitchFamily="34" charset="0"/>
                <a:cs typeface="Arial" pitchFamily="34" charset="-120"/>
              </a:rPr>
              <a:t>!</a:t>
            </a:r>
            <a:endParaRPr lang="en-US" sz="3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351</Words>
  <Application>Microsoft Office PowerPoint</Application>
  <PresentationFormat>Personalizado</PresentationFormat>
  <Paragraphs>74</Paragraphs>
  <Slides>8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Bowlby One SC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Juliana Toro Rojas</cp:lastModifiedBy>
  <cp:revision>3</cp:revision>
  <dcterms:created xsi:type="dcterms:W3CDTF">2026-07-25T16:26:41Z</dcterms:created>
  <dcterms:modified xsi:type="dcterms:W3CDTF">2026-07-25T17:12:37Z</dcterms:modified>
</cp:coreProperties>
</file>